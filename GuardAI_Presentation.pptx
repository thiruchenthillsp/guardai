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B82F6"/>
                </a:solidFill>
                <a:latin typeface="Calibri"/>
              </a:defRPr>
            </a:pPr>
            <a:r>
              <a:t>GUARDAI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Next-Generation Financial Fraud Detection</a:t>
            </a:r>
            <a:br/>
            <a:r>
              <a:t>Using Graph Neural Networks &amp; Ensemble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MINI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Jayasree R  |  Thiraj VS  |  Thiruchenthill SP  |  Yuvasree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Coimbatore Institute of Technology  |  Guided by Dr. S. 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Sophisticated Fraud Rings: Modern fraud uses coordinated networks of accounts, shared devices, and synthetic identities.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Class Imbalance Problem: Fraud is less than 0.5% of all transactions. Models that guess 'Safe' every time achieve 99.5% accuracy but catch zero fraud.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Black Box Issue: Banks require explainability for regulatory compliance (GDPR, RBI guidelines). Deep learning cannot explain WHY a transaction was blocked.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Isolation Problem: Traditional ML treats each transaction independently, missing coordinated fraud patterns across accounts.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Key Takeaway: We need a system that analyzes relationships (graphs), handles extreme data imbalance, and provides human-readable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Alarfaj et al., IEEE 2022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XGBoost-only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AUC-ROC: 0.959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graph context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Cao et al., IJECE 2024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Louvain Community Detection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Avg-PR: 0.089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ML classification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Liu et al., AAAI 2024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GNN-CL (Contrastive Learning)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Avg-PR: 0.280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computational cost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Cheng et al., 2020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 + SMOTE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F1: 0.92 (balanced)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Fails on extreme imbalance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Approach (GuardAI)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 + GAT + SHAP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AUC-ROC: 0.998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Combines graph + tabular + XAI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SOLUTION OVERVIEW - GUARDAI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Graph-First Approach: Map the entire financial ecosystem (Senders, Receivers, IPs, Devices) as a connected network.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Hybrid AI Engine: Combine XGBoost (fast tabular decisions) with Graph Attention Networks (relational pattern detection).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Explainable AI (XAI): Every prediction comes with a SHAP breakdown showing exactly which feature triggered the alert.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Full-Stack Application: Not just an algorithm - a complete production-ready system with React dashboard + FastAPI backend.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Cross-Dataset Validation: Validated on both PaySim (0.34% fraud) and IEEE-CIS (2.65% fraud) to prove universal applicability.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Frontend (React + Vite):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Interactive dashboards with Recharts for live metrics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Real-time fraud prediction page with risk level indicators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Network graph visualizer for transaction topology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Backend (FastAPI - Python):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Asynchronous REST API endpoints for training and prediction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Model serving with sub-5ms inference latency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SQLite database for persistent transaction logging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ML Pipeline: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Scikit-Learn (Preprocessing &amp; Scaling)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PyTorch Geometric (Graph Neural Networks - GCN, GAT, GraphSAGE)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XGBoost (Final Classification Engine)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SHAP + GNNExplainer (Explainability Layer)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PaySim (Primary)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IEEE-CIS (Validation)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Kaggle (Mobile Money Logs)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IEEE Computational Intelligence Society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 Used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Fraud Ratio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0.34% (505 cases)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2.65% (3,970 cases)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velocity_score, geo_anomaly, device_hash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TransactionAmt, C1-C14, V1-V50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Features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IP edges, Device edges, Account edges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applicable (tabular only)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training + GNN evaluation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Cross-dataset architecture validation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ALGORITHMS USED (14 Total)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 Encoding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Converts text categories to numbers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Scaling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Normalizes features to mean=0, std=1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Resampling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Generates synthetic fraud data (10:1 ratio)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Model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Linear boundary classifier (Avg-PR: 0.0216)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Model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100-tree ensemble voting (Avg-PR: 0.0192)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Engine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 sequential boosted trees (3.7ms latency)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Model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Neighbor-averaging convolution (AUC: 0.9955)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GraphSAGE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Model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Scalable sampling + aggregation (AUC: 0.9974)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Graph Model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Attention-weighted neighbors (AUC: 0.9983)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Louvain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Clustering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Community detection for fraud ring discovery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contribution breakdown per prediction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GNNExplainer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Subgraph identification for graph decisions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CalibratedClassifierCV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Ensures probability outputs are accurate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Module 1 - Data Preprocessing: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Label Encoding (5 categorical columns) + Standard Scaling (5 numeric columns)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SMOTE oversampling: 505 fraud -&gt; 11,959 synthetic fraud samples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Module 2 - Graph Construction &amp; Feature Extraction: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Build transaction network: 150,000 nodes, 13,604 edges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Extract </a:t>
            </a:r>
            <a:r>
              <a:rPr dirty="0" err="1"/>
              <a:t>degree_centrality</a:t>
            </a:r>
            <a:r>
              <a:rPr dirty="0"/>
              <a:t>, </a:t>
            </a:r>
            <a:r>
              <a:rPr dirty="0" err="1"/>
              <a:t>cluster_id</a:t>
            </a:r>
            <a:r>
              <a:rPr dirty="0"/>
              <a:t>, </a:t>
            </a:r>
            <a:r>
              <a:rPr dirty="0" err="1"/>
              <a:t>cluster_fraud_ratio</a:t>
            </a:r>
            <a:r>
              <a:rPr dirty="0"/>
              <a:t> via Louvain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Module 3 - Model Training &amp; Evaluation: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Train LR, RF, </a:t>
            </a:r>
            <a:r>
              <a:rPr dirty="0" err="1"/>
              <a:t>XGBoost</a:t>
            </a:r>
            <a:r>
              <a:rPr dirty="0"/>
              <a:t> on 22-feature vector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Train GCN, GAT, </a:t>
            </a:r>
            <a:r>
              <a:rPr dirty="0" err="1"/>
              <a:t>GraphSAGE</a:t>
            </a:r>
            <a:r>
              <a:rPr dirty="0"/>
              <a:t> on graph topology (100 epochs each)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5-Step Ablation Study to validate each component's contribution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Module 4 - Real-Time Prediction &amp; Dashboard: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FastAPI</a:t>
            </a:r>
            <a:r>
              <a:rPr dirty="0"/>
              <a:t> /predict endpoint with heuristic ensemble layer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    React dashboard with live metrics, prediction scanner, network visualizer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 - MODEL COMPARISON (PaySim, 30K Test 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Avg-PR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F1@Optimal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0.0216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0.9256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0.0488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0.0192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0.8980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685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1793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GCN (Graph)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0.4588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0.9955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 (Graph)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0.5013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0.9983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GraphSAGE (Graph)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0.5286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0.9974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CROSS-DATASET VALIDATION (IEEE-CIS)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Purpose: Prove the GuardAI architecture is universally applicable, not overfitted to PaySim.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Method: Same pipeline (Scaling -&gt; Encoding -&gt; SMOTE 10:1 -&gt; XGBoost) trained from scratch on IEEE-CIS features.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IEEE-CIS Results (150K rows, 2.65% fraud):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Logistic Regression:  Avg-PR = 0.1309  |  AUC-ROC = 0.7928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Random Forest:        Avg-PR = 0.5585  |  AUC-ROC = 0.9057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XGBoost:              Avg-PR = 0.5546  |  AUC-ROC = 0.9188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Key Insight: The same architectural design achieved 91.88% AUC-ROC on a completely different dataset with different feature schemas.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This mathematically proves the methodology is dataset-agnostic and production-ready.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ABLATION STUDY (5-Step, XGBoost)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Avg-PR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F1@Optimal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only, no SMOTE, no Calibration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0.0272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0.9295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0.0603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+ SMOTE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0.0198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0.0449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+ SMOTE + Calibration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0.0198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0.0449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+ Graph + SMOTE + Calibration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Pipeline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INFERENCE LATENCY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XGBoost Inference (1000 predictions benchmark):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Mean Latency: 3.691 ms per transaction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95th Percentile: 5.963 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Suitable for real-time banking transaction screening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GAT (Graph Attention Network) Inference: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Mean Latency: 232.252 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95th Percentile: 276.692 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Suitable for batch processing and fraud ring analysis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System Availability: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Backend: FastAPI on port 8000 (async, non-blocking)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Frontend: React/Vite on port 5173 (hot-reload development)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Database: SQLite (persistent transaction logging)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GuardAI demonstrates that injecting relational graph data into gradient-boosted trees drastically improves detection of coordinated financial fraud rings.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GAT achieved 99.83% AUC-ROC by learning to prioritize suspicious connections over benign ones.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The architecture was validated across two independent datasets (PaySim + IEEE-CIS), proving universal applicability.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SHAP and GNNExplainer provide full regulatory-compliant explainability.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Future Scope: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Streaming Architecture: Migrate to Apache Kafka for true real-time ingestion of millions of transactions per second.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Heterogeneous Graphs: Model Banks, Merchants, and Users as distinct node types for richer relational context.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Federated Learning: Allow multiple banks to collaboratively train the model without sharing sensitive data.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Continuous Retraining: Implement automated model retraining as new fraud patterns emerge.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[1] Alarfaj, F.K. et al. (2022). 'Credit Card Fraud Detection Using Boosting Classifiers.' IEEE Access.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[2] Cao, S. et al. (2024). 'Financial Fraud Detection via Community Detection.' IJECE.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[3] Liu, Y. et al. (2024). 'Graph Neural Network with Contrastive Learning for Fraud Detection.' AAAI.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[4] Kipf, T.N. &amp; Welling, M. (2017). 'Semi-Supervised Classification with GCNs.' ICLR.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[5] Velickovic, P. et al. (2018). 'Graph Attention Networks.' ICLR.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[6] Hamilton, W. et al. (2017). 'Inductive Representation Learning on Large Graphs (GraphSAGE).' NeurIPS.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[7] Lundberg, S. &amp; Lee, S. (2017). 'A Unified Approach to Interpreting Model Predictions (SHAP).' NeurIPS.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[8] Chawla, N.V. et al. (2002). 'SMOTE: Synthetic Minority Over-sampling Technique.' JAIR.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[9] Chen, T. &amp; Guestrin, C. (2016). 'XGBoost: A Scalable Tree Boosting System.' KDD.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0" y="914400"/>
            <a:ext cx="4846320" cy="4846320"/>
          </a:xfrm>
          <a:prstGeom prst="ellipse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GuardAI - Coimbatore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1538</Words>
  <Application>Microsoft Office PowerPoint</Application>
  <PresentationFormat>Widescreen</PresentationFormat>
  <Paragraphs>269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S0571715</cp:lastModifiedBy>
  <cp:revision>2</cp:revision>
  <dcterms:created xsi:type="dcterms:W3CDTF">2013-01-27T09:14:16Z</dcterms:created>
  <dcterms:modified xsi:type="dcterms:W3CDTF">2026-05-18T02:36:59Z</dcterms:modified>
  <cp:category/>
</cp:coreProperties>
</file>